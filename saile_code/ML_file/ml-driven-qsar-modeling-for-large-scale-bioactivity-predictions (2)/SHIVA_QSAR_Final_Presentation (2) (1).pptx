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HBPh9+roUvMOCZlDxIw3d05H4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9F6CFE-83E0-4E6D-BCD9-9A944CA620C1}">
  <a:tblStyle styleId="{529F6CFE-83E0-4E6D-BCD9-9A944CA620C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8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0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1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2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12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3B37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9692640" y="-1371600"/>
            <a:ext cx="4754160" cy="4754160"/>
          </a:xfrm>
          <a:prstGeom prst="ellipse">
            <a:avLst/>
          </a:prstGeom>
          <a:solidFill>
            <a:srgbClr val="1A4F49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881360" y="4480560"/>
            <a:ext cx="3108240" cy="3108240"/>
          </a:xfrm>
          <a:prstGeom prst="ellipse">
            <a:avLst/>
          </a:prstGeom>
          <a:solidFill>
            <a:srgbClr val="1A4F49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" y="777240"/>
            <a:ext cx="8777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SAILS.P.402  |  INDUSTRIAL PROJECT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0080" y="1234440"/>
            <a:ext cx="8777520" cy="173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QSAR Bioactivity Prediction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40080" y="3063240"/>
            <a:ext cx="8411760" cy="7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BFD6CF"/>
                </a:solidFill>
                <a:latin typeface="Calibri"/>
                <a:ea typeface="Calibri"/>
                <a:cs typeface="Calibri"/>
                <a:sym typeface="Calibri"/>
              </a:rPr>
              <a:t>A comparative regression and classification study using Morgan fingerprints and SHAP-based feature attribution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40080" y="4069080"/>
            <a:ext cx="2010960" cy="26640"/>
          </a:xfrm>
          <a:prstGeom prst="rect">
            <a:avLst/>
          </a:prstGeom>
          <a:solidFill>
            <a:srgbClr val="D98C2B"/>
          </a:solidFill>
          <a:ln cap="flat" cmpd="sng" w="12700">
            <a:solidFill>
              <a:srgbClr val="D98C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40080" y="4343400"/>
            <a:ext cx="594288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Shivananda Reddy Kasula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FD6CF"/>
                </a:solidFill>
                <a:latin typeface="Calibri"/>
                <a:ea typeface="Calibri"/>
                <a:cs typeface="Calibri"/>
                <a:sym typeface="Calibri"/>
              </a:rPr>
              <a:t>Register Number 39958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FD6CF"/>
                </a:solidFill>
                <a:latin typeface="Calibri"/>
                <a:ea typeface="Calibri"/>
                <a:cs typeface="Calibri"/>
                <a:sym typeface="Calibri"/>
              </a:rPr>
              <a:t>Faculty Mentor: Shyam Rajagopalan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0080" y="5943600"/>
            <a:ext cx="7314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FB3AA"/>
                </a:solidFill>
                <a:latin typeface="Calibri"/>
                <a:ea typeface="Calibri"/>
                <a:cs typeface="Calibri"/>
                <a:sym typeface="Calibri"/>
              </a:rPr>
              <a:t>IBAB &amp; Biocon Academy  ·  August 2026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640080" y="502920"/>
            <a:ext cx="731448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Contents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0080" y="1417320"/>
            <a:ext cx="5302800" cy="1370880"/>
          </a:xfrm>
          <a:prstGeom prst="roundRect">
            <a:avLst>
              <a:gd fmla="val 5333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914400" y="1874520"/>
            <a:ext cx="456480" cy="45648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14400" y="1874520"/>
            <a:ext cx="4564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554480" y="1645920"/>
            <a:ext cx="329112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754880" y="1645920"/>
            <a:ext cx="100512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Slides 3–5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554480" y="2039040"/>
            <a:ext cx="4205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Drug discovery, the QSAR premise, and the objectives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263640" y="1417320"/>
            <a:ext cx="5302800" cy="1370880"/>
          </a:xfrm>
          <a:prstGeom prst="roundRect">
            <a:avLst>
              <a:gd fmla="val 5333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537960" y="1874520"/>
            <a:ext cx="456480" cy="45648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537960" y="1874520"/>
            <a:ext cx="4564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178040" y="1645920"/>
            <a:ext cx="329112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Literature Support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378440" y="1645920"/>
            <a:ext cx="100512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Slides 6–8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178040" y="2039040"/>
            <a:ext cx="4205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The published basis for every methodological choice made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40080" y="3017520"/>
            <a:ext cx="5302800" cy="1370880"/>
          </a:xfrm>
          <a:prstGeom prst="roundRect">
            <a:avLst>
              <a:gd fmla="val 5333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14400" y="3474720"/>
            <a:ext cx="456480" cy="45648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14400" y="3474720"/>
            <a:ext cx="4564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554480" y="3246120"/>
            <a:ext cx="329112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754880" y="3246120"/>
            <a:ext cx="100512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Slides 9–11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554480" y="3639240"/>
            <a:ext cx="4205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Dataset, representation, modelling, validation and metrics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263640" y="3017520"/>
            <a:ext cx="5302800" cy="1370880"/>
          </a:xfrm>
          <a:prstGeom prst="roundRect">
            <a:avLst>
              <a:gd fmla="val 5333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537960" y="3474720"/>
            <a:ext cx="456480" cy="45648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537960" y="3474720"/>
            <a:ext cx="4564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178040" y="3246120"/>
            <a:ext cx="329112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Results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378440" y="3246120"/>
            <a:ext cx="100512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Slides 12–15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178040" y="3639240"/>
            <a:ext cx="4205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Regression, feature selection, SHAP, classification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40080" y="4617720"/>
            <a:ext cx="5302800" cy="1370880"/>
          </a:xfrm>
          <a:prstGeom prst="roundRect">
            <a:avLst>
              <a:gd fmla="val 5333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14400" y="5074920"/>
            <a:ext cx="456480" cy="45648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914400" y="5074920"/>
            <a:ext cx="4564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554480" y="4846320"/>
            <a:ext cx="329112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Discussion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754880" y="4846320"/>
            <a:ext cx="100512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Slides 16–18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554480" y="5239440"/>
            <a:ext cx="4205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What the F1 scores mean, and the limitations of the work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263640" y="4617720"/>
            <a:ext cx="5302800" cy="1370880"/>
          </a:xfrm>
          <a:prstGeom prst="roundRect">
            <a:avLst>
              <a:gd fmla="val 5333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537960" y="5074920"/>
            <a:ext cx="456480" cy="45648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537960" y="5074920"/>
            <a:ext cx="4564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178040" y="4846320"/>
            <a:ext cx="329112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0378440" y="4846320"/>
            <a:ext cx="1005120" cy="34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Slides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178040" y="5239440"/>
            <a:ext cx="4205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Findings and recommended future work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914400" y="475560"/>
            <a:ext cx="548604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1 · INTRODUCTION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914400" y="713160"/>
            <a:ext cx="1033236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211F"/>
                </a:solidFill>
                <a:latin typeface="Cambria"/>
                <a:ea typeface="Cambria"/>
                <a:cs typeface="Cambria"/>
                <a:sym typeface="Cambria"/>
              </a:rPr>
              <a:t>Why QSAR? The problem it solves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14400" y="1243440"/>
            <a:ext cx="103323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Finding a new drug is slow, expensive, and fails most of the time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14400" y="1847160"/>
            <a:ext cx="3209040" cy="2121120"/>
          </a:xfrm>
          <a:prstGeom prst="roundRect">
            <a:avLst>
              <a:gd fmla="val 3448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914400" y="2139840"/>
            <a:ext cx="320904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$2.6B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243440" y="3054240"/>
            <a:ext cx="2550960" cy="685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Average cost to bring a single drug to market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489560" y="1847160"/>
            <a:ext cx="3209040" cy="2121120"/>
          </a:xfrm>
          <a:prstGeom prst="roundRect">
            <a:avLst>
              <a:gd fmla="val 3448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489560" y="2139840"/>
            <a:ext cx="320904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~7%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818960" y="3054240"/>
            <a:ext cx="2550960" cy="685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Of compounds entering Phase I trials ever reach approval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065080" y="1847160"/>
            <a:ext cx="3209040" cy="2121120"/>
          </a:xfrm>
          <a:prstGeom prst="roundRect">
            <a:avLst>
              <a:gd fmla="val 3448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065080" y="2139840"/>
            <a:ext cx="320904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&lt;1%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394120" y="3054240"/>
            <a:ext cx="2550960" cy="685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Hit rate when a compound library is screened in the lab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14400" y="4316040"/>
            <a:ext cx="10359720" cy="1481040"/>
          </a:xfrm>
          <a:prstGeom prst="roundRect">
            <a:avLst>
              <a:gd fmla="val 4938" name="adj"/>
            </a:avLst>
          </a:prstGeom>
          <a:solidFill>
            <a:srgbClr val="2E7D6F"/>
          </a:solidFill>
          <a:ln cap="flat" cmpd="sng" w="12700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298520" y="4517280"/>
            <a:ext cx="960084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QSAR idea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298520" y="4883040"/>
            <a:ext cx="960084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molecule's structure determines what it does. A machine learning model can learn that structure–activity relationship from compounds whose activity has already been measured, then predict activity for untested molecules in seconds — so only the most promising few ever reach the bench.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640080" y="567000"/>
            <a:ext cx="383400" cy="38340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40080" y="567000"/>
            <a:ext cx="3834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207080" y="274320"/>
            <a:ext cx="7314480" cy="2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2 · LITERATURE SUPPORT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207080" y="530280"/>
            <a:ext cx="1034100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Literature support for the representation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207080" y="1024200"/>
            <a:ext cx="103410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Why Morgan fingerprints at radius 2 were the right encoding for this dataset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86160" y="1469880"/>
            <a:ext cx="3428280" cy="2376720"/>
          </a:xfrm>
          <a:prstGeom prst="roundRect">
            <a:avLst>
              <a:gd fmla="val 3077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914400" y="1645920"/>
            <a:ext cx="287964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D98C2B"/>
                </a:solidFill>
                <a:latin typeface="Cambria"/>
                <a:ea typeface="Cambria"/>
                <a:cs typeface="Cambria"/>
                <a:sym typeface="Cambria"/>
              </a:rPr>
              <a:t>1964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914400" y="2030040"/>
            <a:ext cx="287964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Hansch &amp; Fujita</a:t>
            </a:r>
            <a:endParaRPr b="0" sz="14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914400" y="2395800"/>
            <a:ext cx="28796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Established QSAR as quantitative. Linear in a few interpretable constants, confined to congeneric series — too narrow for a diverse dataset.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389120" y="1463040"/>
            <a:ext cx="3428280" cy="2376720"/>
          </a:xfrm>
          <a:prstGeom prst="roundRect">
            <a:avLst>
              <a:gd fmla="val 3077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663440" y="1645920"/>
            <a:ext cx="287964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D98C2B"/>
                </a:solidFill>
                <a:latin typeface="Cambria"/>
                <a:ea typeface="Cambria"/>
                <a:cs typeface="Cambria"/>
                <a:sym typeface="Cambria"/>
              </a:rPr>
              <a:t>Late 1980s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663440" y="2030040"/>
            <a:ext cx="287964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3D-QSAR</a:t>
            </a:r>
            <a:endParaRPr b="0" sz="14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663440" y="2395800"/>
            <a:ext cx="28796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Captures shape and electrostatics, but requires a reliable alignment hypothesis. Not available for a blinded target.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138160" y="1463040"/>
            <a:ext cx="3428280" cy="2376720"/>
          </a:xfrm>
          <a:prstGeom prst="roundRect">
            <a:avLst>
              <a:gd fmla="val 3077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412480" y="1645920"/>
            <a:ext cx="287964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D98C2B"/>
                </a:solidFill>
                <a:latin typeface="Cambria"/>
                <a:ea typeface="Cambria"/>
                <a:cs typeface="Cambria"/>
                <a:sym typeface="Cambria"/>
              </a:rPr>
              <a:t>2010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412480" y="2030040"/>
            <a:ext cx="287964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Rogers &amp; Hahn</a:t>
            </a:r>
            <a:endParaRPr b="0" sz="14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412480" y="2395800"/>
            <a:ext cx="28796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Extended-connectivity fingerprints: atom identifiers iteratively hashed with neighbours, folded into a fixed bit vector. Now the default for machine-learned QSAR.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40080" y="4069080"/>
            <a:ext cx="5531400" cy="2010960"/>
          </a:xfrm>
          <a:prstGeom prst="roundRect">
            <a:avLst>
              <a:gd fmla="val 3636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914400" y="4251960"/>
            <a:ext cx="493704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Justification for this choice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914400" y="4663440"/>
            <a:ext cx="4982760" cy="127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Benchmarks including MoleculeNet (Wu et al., 2018) report fingerprint-based ensembles competitive with learned graph representations below roughly ten thousand compounds. At ~2,350 compounds, fingerprints are the appropriate choice.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400800" y="4069080"/>
            <a:ext cx="5147280" cy="2010960"/>
          </a:xfrm>
          <a:prstGeom prst="roundRect">
            <a:avLst>
              <a:gd fmla="val 3636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675120" y="4251960"/>
            <a:ext cx="457128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Known limitation, acknowledged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675120" y="4663440"/>
            <a:ext cx="4617000" cy="127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Folding introduces bit collisions, and a bit index carries no chemical meaning without the bit-information mapping. This constrains the interpretability results reported in Section 4.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640080" y="567000"/>
            <a:ext cx="383400" cy="38340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40080" y="567000"/>
            <a:ext cx="3834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207080" y="274320"/>
            <a:ext cx="7314480" cy="2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3 · METHODOLOGY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207080" y="530280"/>
            <a:ext cx="1034100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Dataset and preprocessing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207080" y="1024200"/>
            <a:ext cx="103410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A blinded industrial dataset of curated bioactivity measurements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40080" y="1463040"/>
            <a:ext cx="3428280" cy="1325160"/>
          </a:xfrm>
          <a:prstGeom prst="roundRect">
            <a:avLst>
              <a:gd fmla="val 5517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914400" y="1609200"/>
            <a:ext cx="287964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2,700</a:t>
            </a:r>
            <a:endParaRPr b="0" sz="25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914400" y="2139840"/>
            <a:ext cx="2879640" cy="54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records as supplied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389120" y="1463040"/>
            <a:ext cx="3428280" cy="1325160"/>
          </a:xfrm>
          <a:prstGeom prst="roundRect">
            <a:avLst>
              <a:gd fmla="val 5517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663440" y="1609200"/>
            <a:ext cx="287964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~2,350</a:t>
            </a:r>
            <a:endParaRPr b="0" sz="25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663440" y="2139840"/>
            <a:ext cx="2879640" cy="54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unique compounds after deduplication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138160" y="1463040"/>
            <a:ext cx="3428280" cy="1325160"/>
          </a:xfrm>
          <a:prstGeom prst="roundRect">
            <a:avLst>
              <a:gd fmla="val 5517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412480" y="1609200"/>
            <a:ext cx="2879640" cy="5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1,645 / 705</a:t>
            </a:r>
            <a:endParaRPr b="0" sz="25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8412480" y="2139840"/>
            <a:ext cx="2879640" cy="54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training and test compounds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40080" y="3017520"/>
            <a:ext cx="5531400" cy="3062520"/>
          </a:xfrm>
          <a:prstGeom prst="roundRect">
            <a:avLst>
              <a:gd fmla="val 2388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914400" y="3200400"/>
            <a:ext cx="493704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Preprocessing steps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914400" y="3639240"/>
            <a:ext cx="4982760" cy="2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11F"/>
              </a:buClr>
              <a:buSzPts val="1200"/>
              <a:buFont typeface="Noto Sans Symbols"/>
              <a:buChar char="∙"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Exploratory analysis of dimensions, types, nulls and target distribution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17211F"/>
              </a:buClr>
              <a:buSzPts val="1200"/>
              <a:buFont typeface="Noto Sans Symbols"/>
              <a:buChar char="∙"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Molecule identifier column dropped — no chemical information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17211F"/>
              </a:buClr>
              <a:buSzPts val="1200"/>
              <a:buFont typeface="Noto Sans Symbols"/>
              <a:buChar char="∙"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Duplicate SMILES removed, preventing contamination across the split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17211F"/>
              </a:buClr>
              <a:buSzPts val="1200"/>
              <a:buFont typeface="Noto Sans Symbols"/>
              <a:buChar char="∙"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pChEMBL retained as continuous target; dichotomised at ≥ 5 (10 µM)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17211F"/>
              </a:buClr>
              <a:buSzPts val="1200"/>
              <a:buFont typeface="Noto Sans Symbols"/>
              <a:buChar char="∙"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70:30 partition with fixed seed, giving a 705-compound test set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400800" y="3017520"/>
            <a:ext cx="5147280" cy="3062520"/>
          </a:xfrm>
          <a:prstGeom prst="roundRect">
            <a:avLst>
              <a:gd fmla="val 2388" name="adj"/>
            </a:avLst>
          </a:prstGeom>
          <a:solidFill>
            <a:srgbClr val="F4E6CE"/>
          </a:solidFill>
          <a:ln cap="flat" cmpd="sng" w="12700">
            <a:solidFill>
              <a:srgbClr val="F4E6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675120" y="3200400"/>
            <a:ext cx="457128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8A5A12"/>
                </a:solidFill>
                <a:latin typeface="Cambria"/>
                <a:ea typeface="Cambria"/>
                <a:cs typeface="Cambria"/>
                <a:sym typeface="Cambria"/>
              </a:rPr>
              <a:t>The target was not disclosed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675120" y="3639240"/>
            <a:ext cx="4617000" cy="2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5C3D0C"/>
                </a:solidFill>
                <a:latin typeface="Calibri"/>
                <a:ea typeface="Calibri"/>
                <a:cs typeface="Calibri"/>
                <a:sym typeface="Calibri"/>
              </a:rPr>
              <a:t>The dataset was supplied in blinded form, with structures and activity values retained but the target, assay types and therapeutic context withheld.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5C3D0C"/>
                </a:solidFill>
                <a:latin typeface="Calibri"/>
                <a:ea typeface="Calibri"/>
                <a:cs typeface="Calibri"/>
                <a:sym typeface="Calibri"/>
              </a:rPr>
              <a:t>Consequences: the literature support is methodological rather than target-specific; SHAP results cannot be checked against a known binding site; internal validation carries the full weight of the assessment.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5C3D0C"/>
                </a:solidFill>
                <a:latin typeface="Calibri"/>
                <a:ea typeface="Calibri"/>
                <a:cs typeface="Calibri"/>
                <a:sym typeface="Calibri"/>
              </a:rPr>
              <a:t>One advantage: with no prior expectation of which substructures should matter, the interpretability findings could not be steered towards confirming a hypothesis.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640080" y="567000"/>
            <a:ext cx="383400" cy="38340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40080" y="567000"/>
            <a:ext cx="3834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207080" y="274320"/>
            <a:ext cx="7314480" cy="2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3 · METHODOLOGY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207080" y="530280"/>
            <a:ext cx="1034100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Computational workflow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207080" y="1024200"/>
            <a:ext cx="103410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One preprocessing pipeline feeding two parallel modelling tasks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7640" y="1371600"/>
            <a:ext cx="402264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640080" y="1554480"/>
            <a:ext cx="3108240" cy="2148120"/>
          </a:xfrm>
          <a:prstGeom prst="roundRect">
            <a:avLst>
              <a:gd fmla="val 3404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868680" y="1737360"/>
            <a:ext cx="265104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Regression task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68680" y="2148840"/>
            <a:ext cx="2651040" cy="14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Target: the continuous pChEMBL value, preserving the full information content of the measurement.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40080" y="3931920"/>
            <a:ext cx="3108240" cy="2148120"/>
          </a:xfrm>
          <a:prstGeom prst="roundRect">
            <a:avLst>
              <a:gd fmla="val 3404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68680" y="4114800"/>
            <a:ext cx="265104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Classification task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68680" y="4526280"/>
            <a:ext cx="2651040" cy="14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Target: binary activity at pChEMBL ≥ 5, a conventional if permissive criterion for measurable activity.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275320" y="1554480"/>
            <a:ext cx="3272760" cy="2148120"/>
          </a:xfrm>
          <a:prstGeom prst="roundRect">
            <a:avLst>
              <a:gd fmla="val 3404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503920" y="1737360"/>
            <a:ext cx="28339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Software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503920" y="2148840"/>
            <a:ext cx="2833920" cy="14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RDKit for chemistry; scikit-learn for models, validation and metrics; XGBoost and LightGBM; SHAP; pandas, NumPy, Matplotlib.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275320" y="3931920"/>
            <a:ext cx="3272760" cy="2148120"/>
          </a:xfrm>
          <a:prstGeom prst="roundRect">
            <a:avLst>
              <a:gd fmla="val 3404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503920" y="4114800"/>
            <a:ext cx="28339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Shared pipeline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503920" y="4526280"/>
            <a:ext cx="2833920" cy="14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Both branches share every preprocessing step, so any difference in outcome is attributable to the task formulation rather than to the data.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>
            <a:off x="649080" y="567000"/>
            <a:ext cx="383760" cy="383760"/>
          </a:xfrm>
          <a:prstGeom prst="ellipse">
            <a:avLst/>
          </a:prstGeom>
          <a:solidFill>
            <a:srgbClr val="2E7D6F"/>
          </a:solidFill>
          <a:ln cap="flat" cmpd="sng" w="12700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49080" y="567000"/>
            <a:ext cx="38376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197720" y="365760"/>
            <a:ext cx="548604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3 · METHODOLOGY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197720" y="603360"/>
            <a:ext cx="100580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7211F"/>
                </a:solidFill>
                <a:latin typeface="Cambria"/>
                <a:ea typeface="Cambria"/>
                <a:cs typeface="Cambria"/>
                <a:sym typeface="Cambria"/>
              </a:rPr>
              <a:t>How a molecule becomes a number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197720" y="1134000"/>
            <a:ext cx="100580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One worked example: aspirin, from text to model-ready features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914400" y="1645920"/>
            <a:ext cx="2276640" cy="3309840"/>
          </a:xfrm>
          <a:prstGeom prst="roundRect">
            <a:avLst>
              <a:gd fmla="val 3213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602880" y="1645920"/>
            <a:ext cx="2276640" cy="3309840"/>
          </a:xfrm>
          <a:prstGeom prst="roundRect">
            <a:avLst>
              <a:gd fmla="val 3213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291000" y="1659600"/>
            <a:ext cx="2276640" cy="3309840"/>
          </a:xfrm>
          <a:prstGeom prst="roundRect">
            <a:avLst>
              <a:gd fmla="val 3213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8979480" y="1645920"/>
            <a:ext cx="2276640" cy="3309840"/>
          </a:xfrm>
          <a:prstGeom prst="roundRect">
            <a:avLst>
              <a:gd fmla="val 3213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250800" y="3200400"/>
            <a:ext cx="292320" cy="200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7D6F"/>
          </a:solidFill>
          <a:ln cap="flat" cmpd="sng" w="12700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938920" y="3200400"/>
            <a:ext cx="292320" cy="200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7D6F"/>
          </a:solidFill>
          <a:ln cap="flat" cmpd="sng" w="12700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8627400" y="3200400"/>
            <a:ext cx="292320" cy="200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7D6F"/>
          </a:solidFill>
          <a:ln cap="flat" cmpd="sng" w="12700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115640" y="1828800"/>
            <a:ext cx="18741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1 · The input</a:t>
            </a:r>
            <a:endParaRPr b="0" sz="14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803760" y="1828800"/>
            <a:ext cx="18741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2 · The structure</a:t>
            </a:r>
            <a:endParaRPr b="0" sz="14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492240" y="1828800"/>
            <a:ext cx="18741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3 · The fingerprint</a:t>
            </a:r>
            <a:endParaRPr b="0" sz="14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9180720" y="1828800"/>
            <a:ext cx="18741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4 · Ready to model</a:t>
            </a:r>
            <a:endParaRPr b="0" sz="14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060560" y="2834640"/>
            <a:ext cx="1983960" cy="566640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060560" y="2834640"/>
            <a:ext cx="198396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strike="noStrike">
                <a:solidFill>
                  <a:srgbClr val="17211F"/>
                </a:solidFill>
                <a:latin typeface="Courier New"/>
                <a:ea typeface="Courier New"/>
                <a:cs typeface="Courier New"/>
                <a:sym typeface="Courier New"/>
              </a:rPr>
              <a:t>CC(=O)Oc1ccccc1C(=O)O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115640" y="4224600"/>
            <a:ext cx="1874160" cy="65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A SMILES string. The whole molecule, written as one line of ordinary text.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7"/>
          <p:cNvCxnSpPr/>
          <p:nvPr/>
        </p:nvCxnSpPr>
        <p:spPr>
          <a:xfrm flipH="1" rot="10800000">
            <a:off x="4207680" y="2889360"/>
            <a:ext cx="364320" cy="210240"/>
          </a:xfrm>
          <a:prstGeom prst="straightConnector1">
            <a:avLst/>
          </a:prstGeom>
          <a:noFill/>
          <a:ln cap="flat" cmpd="sng" w="17775">
            <a:solidFill>
              <a:srgbClr val="17211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7"/>
          <p:cNvCxnSpPr/>
          <p:nvPr/>
        </p:nvCxnSpPr>
        <p:spPr>
          <a:xfrm>
            <a:off x="4207680" y="3099600"/>
            <a:ext cx="360" cy="420840"/>
          </a:xfrm>
          <a:prstGeom prst="straightConnector1">
            <a:avLst/>
          </a:prstGeom>
          <a:noFill/>
          <a:ln cap="flat" cmpd="sng" w="17775">
            <a:solidFill>
              <a:srgbClr val="17211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7"/>
          <p:cNvCxnSpPr/>
          <p:nvPr/>
        </p:nvCxnSpPr>
        <p:spPr>
          <a:xfrm>
            <a:off x="4207680" y="3520440"/>
            <a:ext cx="364320" cy="210240"/>
          </a:xfrm>
          <a:prstGeom prst="straightConnector1">
            <a:avLst/>
          </a:prstGeom>
          <a:noFill/>
          <a:ln cap="flat" cmpd="sng" w="17775">
            <a:solidFill>
              <a:srgbClr val="17211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7"/>
          <p:cNvCxnSpPr/>
          <p:nvPr/>
        </p:nvCxnSpPr>
        <p:spPr>
          <a:xfrm flipH="1" rot="10800000">
            <a:off x="4572000" y="3520440"/>
            <a:ext cx="363960" cy="210240"/>
          </a:xfrm>
          <a:prstGeom prst="straightConnector1">
            <a:avLst/>
          </a:prstGeom>
          <a:noFill/>
          <a:ln cap="flat" cmpd="sng" w="17775">
            <a:solidFill>
              <a:srgbClr val="17211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7"/>
          <p:cNvCxnSpPr/>
          <p:nvPr/>
        </p:nvCxnSpPr>
        <p:spPr>
          <a:xfrm>
            <a:off x="4935960" y="3099600"/>
            <a:ext cx="360" cy="420840"/>
          </a:xfrm>
          <a:prstGeom prst="straightConnector1">
            <a:avLst/>
          </a:prstGeom>
          <a:noFill/>
          <a:ln cap="flat" cmpd="sng" w="17775">
            <a:solidFill>
              <a:srgbClr val="17211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7"/>
          <p:cNvCxnSpPr/>
          <p:nvPr/>
        </p:nvCxnSpPr>
        <p:spPr>
          <a:xfrm>
            <a:off x="4572000" y="2889360"/>
            <a:ext cx="363960" cy="210240"/>
          </a:xfrm>
          <a:prstGeom prst="straightConnector1">
            <a:avLst/>
          </a:prstGeom>
          <a:noFill/>
          <a:ln cap="flat" cmpd="sng" w="17775">
            <a:solidFill>
              <a:srgbClr val="1721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7"/>
          <p:cNvSpPr/>
          <p:nvPr/>
        </p:nvSpPr>
        <p:spPr>
          <a:xfrm>
            <a:off x="4334400" y="3072240"/>
            <a:ext cx="475200" cy="475200"/>
          </a:xfrm>
          <a:prstGeom prst="ellipse">
            <a:avLst/>
          </a:prstGeom>
          <a:noFill/>
          <a:ln cap="flat" cmpd="sng" w="13950">
            <a:solidFill>
              <a:srgbClr val="172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7"/>
          <p:cNvCxnSpPr/>
          <p:nvPr/>
        </p:nvCxnSpPr>
        <p:spPr>
          <a:xfrm>
            <a:off x="4572000" y="2615040"/>
            <a:ext cx="360" cy="274320"/>
          </a:xfrm>
          <a:prstGeom prst="straightConnector1">
            <a:avLst/>
          </a:prstGeom>
          <a:noFill/>
          <a:ln cap="flat" cmpd="sng" w="17775">
            <a:solidFill>
              <a:srgbClr val="1721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7"/>
          <p:cNvSpPr/>
          <p:nvPr/>
        </p:nvSpPr>
        <p:spPr>
          <a:xfrm>
            <a:off x="4160520" y="2322720"/>
            <a:ext cx="82260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COOH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7"/>
          <p:cNvCxnSpPr/>
          <p:nvPr/>
        </p:nvCxnSpPr>
        <p:spPr>
          <a:xfrm flipH="1" rot="10800000">
            <a:off x="4935960" y="2953440"/>
            <a:ext cx="274320" cy="146160"/>
          </a:xfrm>
          <a:prstGeom prst="straightConnector1">
            <a:avLst/>
          </a:prstGeom>
          <a:noFill/>
          <a:ln cap="flat" cmpd="sng" w="17775">
            <a:solidFill>
              <a:srgbClr val="1721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7"/>
          <p:cNvSpPr/>
          <p:nvPr/>
        </p:nvSpPr>
        <p:spPr>
          <a:xfrm>
            <a:off x="5192280" y="2807280"/>
            <a:ext cx="74952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OCOCH₃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897000" y="3209400"/>
            <a:ext cx="621360" cy="621360"/>
          </a:xfrm>
          <a:prstGeom prst="ellipse">
            <a:avLst/>
          </a:prstGeom>
          <a:noFill/>
          <a:ln cap="flat" cmpd="sng" w="17775">
            <a:solidFill>
              <a:srgbClr val="2E7D6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749040" y="3931920"/>
            <a:ext cx="1983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one atom + its neighbours</a:t>
            </a:r>
            <a:endParaRPr b="0" sz="9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3803760" y="4224600"/>
            <a:ext cx="1874160" cy="65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The same information, drawn. RDKit rebuilds the molecular graph from the text.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487560" y="248724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679800" y="2487240"/>
            <a:ext cx="155160" cy="15516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871680" y="248724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7063920" y="248724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7255800" y="2487240"/>
            <a:ext cx="155160" cy="15516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447680" y="248724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639920" y="248724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831800" y="248724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8024040" y="248724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8215920" y="2487240"/>
            <a:ext cx="155160" cy="15516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487560" y="2679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679800" y="2679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871680" y="2679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063920" y="2679120"/>
            <a:ext cx="155160" cy="15516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255800" y="2679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7447680" y="2679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639920" y="2679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7831800" y="2679120"/>
            <a:ext cx="155160" cy="15516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024040" y="2679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8215920" y="2679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487560" y="287136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679800" y="287136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6871680" y="2871360"/>
            <a:ext cx="155160" cy="15516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063920" y="287136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7255800" y="287136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7447680" y="287136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7639920" y="2871360"/>
            <a:ext cx="155160" cy="15516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831800" y="287136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8024040" y="287136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215920" y="287136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487560" y="3063240"/>
            <a:ext cx="155160" cy="15516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6679800" y="306324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6871680" y="306324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7063920" y="3063240"/>
            <a:ext cx="155160" cy="15516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7255800" y="306324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7447680" y="306324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7639920" y="306324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7831800" y="306324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8024040" y="3063240"/>
            <a:ext cx="155160" cy="15516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215920" y="306324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487560" y="3255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679800" y="3255120"/>
            <a:ext cx="155160" cy="15516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871680" y="3255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7063920" y="3255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7255800" y="3255120"/>
            <a:ext cx="155160" cy="15516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7447680" y="3255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7639920" y="3255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7831800" y="3255120"/>
            <a:ext cx="155160" cy="15516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8024040" y="3255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8215920" y="3255120"/>
            <a:ext cx="155160" cy="155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437520" y="3566160"/>
            <a:ext cx="198396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17211F"/>
                </a:solidFill>
                <a:latin typeface="Courier New"/>
                <a:ea typeface="Courier New"/>
                <a:cs typeface="Courier New"/>
                <a:sym typeface="Courier New"/>
              </a:rPr>
              <a:t>1 0 0 1 0 …  × 1024 bits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492240" y="4224600"/>
            <a:ext cx="1874160" cy="65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Every neighbourhood becomes one bit: present or absent. Now it is just numbers.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9692640" y="243216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9838800" y="2432160"/>
            <a:ext cx="118440" cy="11844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9985320" y="243216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10131480" y="243216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0278000" y="243216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10424160" y="2432160"/>
            <a:ext cx="118440" cy="11844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9692640" y="2578680"/>
            <a:ext cx="118440" cy="11844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9838800" y="257868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9985320" y="257868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10131480" y="257868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10278000" y="2578680"/>
            <a:ext cx="118440" cy="11844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10424160" y="257868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9692640" y="272484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9838800" y="2724840"/>
            <a:ext cx="118440" cy="11844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9985320" y="272484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10131480" y="272484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10278000" y="2724840"/>
            <a:ext cx="118440" cy="11844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10424160" y="272484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9692640" y="287136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9838800" y="2871360"/>
            <a:ext cx="118440" cy="11844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9985320" y="287136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10131480" y="287136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10278000" y="2871360"/>
            <a:ext cx="118440" cy="118440"/>
          </a:xfrm>
          <a:prstGeom prst="rect">
            <a:avLst/>
          </a:prstGeom>
          <a:solidFill>
            <a:srgbClr val="2E7D6F"/>
          </a:solidFill>
          <a:ln cap="flat" cmpd="sng" w="9525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10424160" y="2871360"/>
            <a:ext cx="118440" cy="118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9107280" y="3127320"/>
            <a:ext cx="202032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2,350 × 1024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9125640" y="3602880"/>
            <a:ext cx="198396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compounds × features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9180720" y="4224600"/>
            <a:ext cx="1874160" cy="65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A plain numeric table — ready to feed into any machine learning model.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914400" y="5175360"/>
            <a:ext cx="10341360" cy="840960"/>
          </a:xfrm>
          <a:prstGeom prst="roundRect">
            <a:avLst>
              <a:gd fmla="val 8696" name="adj"/>
            </a:avLst>
          </a:prstGeom>
          <a:solidFill>
            <a:srgbClr val="2E7D6F"/>
          </a:solidFill>
          <a:ln cap="flat" cmpd="sng" w="12700">
            <a:solidFill>
              <a:srgbClr val="2E7D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1234440" y="5303520"/>
            <a:ext cx="969228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Everything after step 1 is arithmetic. Thousands of candidate molecules can be scored and ranked in minutes — before a single one is synthesised or assayed.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"/>
          <p:cNvSpPr/>
          <p:nvPr/>
        </p:nvSpPr>
        <p:spPr>
          <a:xfrm>
            <a:off x="640080" y="567000"/>
            <a:ext cx="383400" cy="38340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40080" y="567000"/>
            <a:ext cx="3834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1207080" y="274320"/>
            <a:ext cx="7314480" cy="2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3 · METHODOLOGY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1207080" y="530280"/>
            <a:ext cx="1034100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Modelling, validation and metrics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1207080" y="1024200"/>
            <a:ext cx="103410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Library defaults except where grid search is explicitly reported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40080" y="1463040"/>
            <a:ext cx="3565440" cy="3199680"/>
          </a:xfrm>
          <a:prstGeom prst="roundRect">
            <a:avLst>
              <a:gd fmla="val 2286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896040" y="1645920"/>
            <a:ext cx="30625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Algorithms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896040" y="2057400"/>
            <a:ext cx="3062520" cy="24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Regression (7): Linear, Ridge, Lasso, Random Forest, Gradient Boosting, Bagging, XGBoost.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Classification (6): Logistic, Ridge, Random Forest, LightGBM, Bagging, XGBoost.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Four families appear in both, permitting direct comparison of the same inductive bias across formulations.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370760" y="1463040"/>
            <a:ext cx="3565440" cy="3199680"/>
          </a:xfrm>
          <a:prstGeom prst="roundRect">
            <a:avLst>
              <a:gd fmla="val 2286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4626720" y="1645920"/>
            <a:ext cx="306252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Feature selection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626720" y="2057400"/>
            <a:ext cx="3062520" cy="24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Nine configurations: raw fingerprint at 1024 and 2048 bits ± descriptors; variance thresholding at 0.00 and 0.01; PCA at 95% variance and 200 components; Lasso selection; and SHAP-guided selection of the top 50 to 350 features.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8192880" y="1463040"/>
            <a:ext cx="3355200" cy="3199680"/>
          </a:xfrm>
          <a:prstGeom prst="roundRect">
            <a:avLst>
              <a:gd fmla="val 2286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8449200" y="1645920"/>
            <a:ext cx="287964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Validation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8449200" y="2057400"/>
            <a:ext cx="2879640" cy="24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Hold-out: 70:30 split, seed 7, giving 705 test compounds.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Cross-validation: ten folds, stratified for classification so class proportions are preserved in every fold.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Grid search: exhaustive, five-fold, scored on R².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640080" y="4892040"/>
            <a:ext cx="10908000" cy="1188000"/>
          </a:xfrm>
          <a:prstGeom prst="roundRect">
            <a:avLst>
              <a:gd fmla="val 6154" name="adj"/>
            </a:avLst>
          </a:prstGeom>
          <a:solidFill>
            <a:srgbClr val="123B37"/>
          </a:solidFill>
          <a:ln cap="flat" cmpd="sng" w="12700">
            <a:solidFill>
              <a:srgbClr val="123B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960120" y="5056560"/>
            <a:ext cx="1051488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strike="noStrike">
                <a:solidFill>
                  <a:srgbClr val="D98C2B"/>
                </a:solidFill>
                <a:latin typeface="Cambria"/>
                <a:ea typeface="Cambria"/>
                <a:cs typeface="Cambria"/>
                <a:sym typeface="Cambria"/>
              </a:rPr>
              <a:t>Metrics</a:t>
            </a:r>
            <a:endParaRPr b="0" sz="15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960120" y="5394960"/>
            <a:ext cx="10514880" cy="63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DCEAE5"/>
                </a:solidFill>
                <a:latin typeface="Calibri"/>
                <a:ea typeface="Calibri"/>
                <a:cs typeface="Calibri"/>
                <a:sym typeface="Calibri"/>
              </a:rPr>
              <a:t>Regression: R², RMSE and MAE. Classification: precision, recall and F1 for the active class, plus ROC-AUC — with sensitivity and specificity reported separately, since a single-class F1 tells us nothing about the minority class.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/>
          <p:nvPr/>
        </p:nvSpPr>
        <p:spPr>
          <a:xfrm>
            <a:off x="640080" y="567000"/>
            <a:ext cx="383400" cy="38340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640080" y="567000"/>
            <a:ext cx="3834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1207080" y="274320"/>
            <a:ext cx="7314480" cy="2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4 · RESULTS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1207080" y="530280"/>
            <a:ext cx="1034100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Regression performance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1207080" y="1024200"/>
            <a:ext cx="103410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Ten-fold cross-validated R² on the 1024-bit Morgan fingerprint  ·  values shown as mean ± 1 SD across folds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8001000" y="1463040"/>
            <a:ext cx="3547080" cy="2285280"/>
          </a:xfrm>
          <a:prstGeom prst="roundRect">
            <a:avLst>
              <a:gd fmla="val 3200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8102160" y="1234080"/>
            <a:ext cx="4091760" cy="143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0.664, std 0.04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8183880" y="2286000"/>
            <a:ext cx="3199680" cy="2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Random Forest R²  ·  RMSE 0.655 log units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8183880" y="2670120"/>
            <a:ext cx="3199680" cy="1005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XGBoost (0.653) and Bagging (0.634) lie within one standard deviation. Tree ensembles as a class win — no single ensemble is demonstrably superior.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8001000" y="3977640"/>
            <a:ext cx="3547080" cy="1873800"/>
          </a:xfrm>
          <a:prstGeom prst="roundRect">
            <a:avLst>
              <a:gd fmla="val 3902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8183880" y="4142160"/>
            <a:ext cx="319968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The two failures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8183880" y="4526280"/>
            <a:ext cx="319968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Lasso collapses to its intercept under the default L1 penalty. Unregularised Linear Regression is unstable with 1024 correlated features. The right amount of regularisation is intermediate.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463060"/>
            <a:ext cx="7048500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"/>
          <p:cNvSpPr/>
          <p:nvPr/>
        </p:nvSpPr>
        <p:spPr>
          <a:xfrm>
            <a:off x="640080" y="567000"/>
            <a:ext cx="383400" cy="38340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40080" y="567000"/>
            <a:ext cx="3834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1207080" y="274320"/>
            <a:ext cx="7314480" cy="2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4 · RESULTS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1207080" y="530280"/>
            <a:ext cx="1034100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Feature selection and hyperparameter tuning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1207080" y="1024200"/>
            <a:ext cx="103410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Neither improved on the untuned full-representation baseline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640080" y="5897880"/>
            <a:ext cx="6308640" cy="36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7223760" y="1469880"/>
            <a:ext cx="4324320" cy="2148120"/>
          </a:xfrm>
          <a:prstGeom prst="roundRect">
            <a:avLst>
              <a:gd fmla="val 3404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7452360" y="1645920"/>
            <a:ext cx="38397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Grid search gained nothing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8" name="Google Shape;338;p10"/>
          <p:cNvGraphicFramePr/>
          <p:nvPr/>
        </p:nvGraphicFramePr>
        <p:xfrm>
          <a:off x="7452360" y="2084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{529F6CFE-83E0-4E6D-BCD9-9A944CA620C1}</a:tableStyleId>
              </a:tblPr>
              <a:tblGrid>
                <a:gridCol w="1737350"/>
                <a:gridCol w="1051550"/>
                <a:gridCol w="1051550"/>
              </a:tblGrid>
              <a:tr h="26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b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B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</a:t>
                      </a:r>
                      <a:endParaRPr b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B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Tuned</a:t>
                      </a:r>
                      <a:endParaRPr b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B37"/>
                    </a:solidFill>
                  </a:tcPr>
                </a:tc>
              </a:tr>
              <a:tr h="26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721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721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0.664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721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0.668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2F0"/>
                    </a:solidFill>
                  </a:tcPr>
                </a:tc>
              </a:tr>
              <a:tr h="26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721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721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0.653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721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0.669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721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Bagging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721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0.634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721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0.671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2F0"/>
                    </a:solidFill>
                  </a:tcPr>
                </a:tc>
              </a:tr>
              <a:tr h="26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721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Lasso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721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−0.006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721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0.589</a:t>
                      </a:r>
                      <a:endParaRPr b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0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9" name="Google Shape;339;p10"/>
          <p:cNvSpPr/>
          <p:nvPr/>
        </p:nvSpPr>
        <p:spPr>
          <a:xfrm>
            <a:off x="7223760" y="3840480"/>
            <a:ext cx="4324320" cy="1325160"/>
          </a:xfrm>
          <a:prstGeom prst="roundRect">
            <a:avLst>
              <a:gd fmla="val 5517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7452360" y="4005000"/>
            <a:ext cx="383976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Signal is distributed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7452360" y="4370760"/>
            <a:ext cx="383976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All 497 features carry non-zero attribution; the top 20 hold only 54% of it, so reduction costs real information.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7223760" y="5349240"/>
            <a:ext cx="4324320" cy="959400"/>
          </a:xfrm>
          <a:prstGeom prst="roundRect">
            <a:avLst>
              <a:gd fmla="val 7619" name="adj"/>
            </a:avLst>
          </a:prstGeom>
          <a:solidFill>
            <a:srgbClr val="F4E6CE"/>
          </a:solidFill>
          <a:ln cap="flat" cmpd="sng" w="12700">
            <a:solidFill>
              <a:srgbClr val="F4E6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7452360" y="5513760"/>
            <a:ext cx="388548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strike="noStrike">
                <a:solidFill>
                  <a:srgbClr val="5C3D0C"/>
                </a:solidFill>
                <a:latin typeface="Calibri"/>
                <a:ea typeface="Calibri"/>
                <a:cs typeface="Calibri"/>
                <a:sym typeface="Calibri"/>
              </a:rPr>
              <a:t>Recorded issue: the two PCA runs and the Lasso-selection run produced identical output files and must be re-run.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120" y="1513440"/>
            <a:ext cx="6639120" cy="4784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"/>
          <p:cNvSpPr/>
          <p:nvPr/>
        </p:nvSpPr>
        <p:spPr>
          <a:xfrm>
            <a:off x="640080" y="567000"/>
            <a:ext cx="383400" cy="38340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640080" y="567000"/>
            <a:ext cx="3834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1207080" y="274320"/>
            <a:ext cx="7314480" cy="2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4 · RESULTS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1207080" y="530280"/>
            <a:ext cx="1034100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SHAP interpretability analysis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1207080" y="1024200"/>
            <a:ext cx="103410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Attributions computed over 470 compounds and 497 features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640080" y="5577840"/>
            <a:ext cx="5119920" cy="4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Random Forest regressor — 20 features with the highest mean absolute SHAP value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6035040" y="1417320"/>
            <a:ext cx="5513040" cy="1279440"/>
          </a:xfrm>
          <a:prstGeom prst="roundRect">
            <a:avLst>
              <a:gd fmla="val 5714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263640" y="1554480"/>
            <a:ext cx="19652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12 of 20</a:t>
            </a:r>
            <a:endParaRPr b="0" sz="2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8321040" y="1554480"/>
            <a:ext cx="301680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top-ranked features shared between the Random Forest and Gradient Boosting rankings — two algorithms that build ensembles in completely different ways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6051600" y="2835000"/>
            <a:ext cx="5513040" cy="1279440"/>
          </a:xfrm>
          <a:prstGeom prst="roundRect">
            <a:avLst>
              <a:gd fmla="val 5714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6355440" y="3017520"/>
            <a:ext cx="1965240" cy="456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18.7%</a:t>
            </a:r>
            <a:endParaRPr b="0" sz="2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8321040" y="3017520"/>
            <a:ext cx="301680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of total Random Forest attribution carried by feature Aromatic amine alone, more than three times the second-ranked feature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60" y="950760"/>
            <a:ext cx="6103440" cy="429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2"/>
          <p:cNvSpPr/>
          <p:nvPr/>
        </p:nvSpPr>
        <p:spPr>
          <a:xfrm>
            <a:off x="640080" y="567000"/>
            <a:ext cx="383400" cy="38340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640080" y="567000"/>
            <a:ext cx="3834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1207080" y="274320"/>
            <a:ext cx="7314480" cy="2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4 · RESULTS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1207080" y="530280"/>
            <a:ext cx="10341000" cy="47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Classification performance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1207080" y="1024200"/>
            <a:ext cx="10341000" cy="29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Hold-out evaluation on 705 test compounds, ordered by F1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640080" y="4343400"/>
            <a:ext cx="7634520" cy="146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The F1 scores cluster within 0.008 of one another, from 0.976 to 0.984. Under stratified ten-fold cross-validation they compress further still, to 0.975–0.980, with fold-to-fold standard deviations of 0.003 to 0.007 — larger than the entire spread between models. On this evidence the six classifiers are statistically indistinguishable.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8549640" y="1554480"/>
            <a:ext cx="2998440" cy="2193840"/>
          </a:xfrm>
          <a:prstGeom prst="roundRect">
            <a:avLst>
              <a:gd fmla="val 3333" name="adj"/>
            </a:avLst>
          </a:prstGeom>
          <a:solidFill>
            <a:srgbClr val="EDF2F0"/>
          </a:solidFill>
          <a:ln cap="flat" cmpd="sng" w="127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8732520" y="1737360"/>
            <a:ext cx="2651040" cy="31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The apparent reading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8732520" y="2121480"/>
            <a:ext cx="2651040" cy="1508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Every model scores above 0.976 on F1, balancing precision and recall on the active class. Random Forest leads, and the task looks solved.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514520"/>
            <a:ext cx="7086240" cy="26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"/>
          <p:cNvSpPr/>
          <p:nvPr/>
        </p:nvSpPr>
        <p:spPr>
          <a:xfrm>
            <a:off x="640080" y="567000"/>
            <a:ext cx="382320" cy="38232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640080" y="567000"/>
            <a:ext cx="382320" cy="38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1207080" y="274320"/>
            <a:ext cx="7313400" cy="254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4 · CONCLUSION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1207080" y="530280"/>
            <a:ext cx="10339920" cy="47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Conclusions and future work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1207080" y="1024200"/>
            <a:ext cx="10339920" cy="2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What the study establishes, and what remains to be done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640080" y="1463040"/>
            <a:ext cx="3427200" cy="1735560"/>
          </a:xfrm>
          <a:prstGeom prst="roundRect">
            <a:avLst>
              <a:gd fmla="val 4211" name="adj"/>
            </a:avLst>
          </a:prstGeom>
          <a:solidFill>
            <a:srgbClr val="EDF2F0"/>
          </a:solidFill>
          <a:ln cap="flat" cmpd="sng" w="126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640080" y="1627560"/>
            <a:ext cx="34272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0.685</a:t>
            </a:r>
            <a:endParaRPr b="0" sz="3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868680" y="2377440"/>
            <a:ext cx="29700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Best cross-validated R²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2048 bits with variance thresholding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4389120" y="1463040"/>
            <a:ext cx="3427200" cy="1735560"/>
          </a:xfrm>
          <a:prstGeom prst="roundRect">
            <a:avLst>
              <a:gd fmla="val 4211" name="adj"/>
            </a:avLst>
          </a:prstGeom>
          <a:solidFill>
            <a:srgbClr val="EDF2F0"/>
          </a:solidFill>
          <a:ln cap="flat" cmpd="sng" w="126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4389120" y="1627560"/>
            <a:ext cx="34272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0.655</a:t>
            </a:r>
            <a:endParaRPr b="0" sz="3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4617720" y="2377440"/>
            <a:ext cx="29700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Log-unit RMSE — a 4.5-fold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uncertainty in predicted potency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8138160" y="1463040"/>
            <a:ext cx="3427200" cy="1735560"/>
          </a:xfrm>
          <a:prstGeom prst="roundRect">
            <a:avLst>
              <a:gd fmla="val 4211" name="adj"/>
            </a:avLst>
          </a:prstGeom>
          <a:solidFill>
            <a:srgbClr val="EDF2F0"/>
          </a:solidFill>
          <a:ln cap="flat" cmpd="sng" w="126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8138160" y="1627560"/>
            <a:ext cx="34272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 strike="noStrike">
                <a:solidFill>
                  <a:srgbClr val="D98C2B"/>
                </a:solidFill>
                <a:latin typeface="Cambria"/>
                <a:ea typeface="Cambria"/>
                <a:cs typeface="Cambria"/>
                <a:sym typeface="Cambria"/>
              </a:rPr>
              <a:t>18.7%</a:t>
            </a:r>
            <a:endParaRPr b="0" sz="3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8458200" y="2286000"/>
            <a:ext cx="29700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Of total attribution carried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by feature aromatic amide group(337) alone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3200400" y="3429000"/>
            <a:ext cx="5530320" cy="2009880"/>
          </a:xfrm>
          <a:prstGeom prst="roundRect">
            <a:avLst>
              <a:gd fmla="val 3636" name="adj"/>
            </a:avLst>
          </a:prstGeom>
          <a:solidFill>
            <a:srgbClr val="EDF2F0"/>
          </a:solidFill>
          <a:ln cap="flat" cmpd="sng" w="126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3429000" y="3611880"/>
            <a:ext cx="4935960" cy="30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What the results establish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3476520" y="3979440"/>
            <a:ext cx="4981680" cy="127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640080" y="5623560"/>
            <a:ext cx="10906920" cy="684000"/>
          </a:xfrm>
          <a:prstGeom prst="roundRect">
            <a:avLst>
              <a:gd fmla="val 10667" name="adj"/>
            </a:avLst>
          </a:prstGeom>
          <a:solidFill>
            <a:srgbClr val="123B37"/>
          </a:solidFill>
          <a:ln cap="flat" cmpd="sng" w="12600">
            <a:solidFill>
              <a:srgbClr val="123B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960120" y="5623560"/>
            <a:ext cx="1026684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Attribution is stable — 12 of 20 top features agree across two algorithms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BAB, Syngene and Biocon Academy logos" id="401" name="Google Shape;4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7440" y="274320"/>
            <a:ext cx="2513160" cy="29052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3"/>
          <p:cNvSpPr txBox="1"/>
          <p:nvPr/>
        </p:nvSpPr>
        <p:spPr>
          <a:xfrm>
            <a:off x="3780000" y="3970440"/>
            <a:ext cx="11993400" cy="105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Tree ensembles win as a class rather than individually 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— Random Forest, XGBoost and Bagging fall within one 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standard deviation of each other. Neither feature selection nor grid 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search improved on the untuned baseline: the signal is distributed 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across the representation.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4"/>
          <p:cNvSpPr/>
          <p:nvPr/>
        </p:nvSpPr>
        <p:spPr>
          <a:xfrm>
            <a:off x="640080" y="567000"/>
            <a:ext cx="382320" cy="382320"/>
          </a:xfrm>
          <a:prstGeom prst="ellipse">
            <a:avLst/>
          </a:prstGeom>
          <a:solidFill>
            <a:srgbClr val="2E7D6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640080" y="567000"/>
            <a:ext cx="382320" cy="38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1207080" y="274320"/>
            <a:ext cx="7313400" cy="254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D98C2B"/>
                </a:solidFill>
                <a:latin typeface="Calibri"/>
                <a:ea typeface="Calibri"/>
                <a:cs typeface="Calibri"/>
                <a:sym typeface="Calibri"/>
              </a:rPr>
              <a:t>5 · REFERENCES</a:t>
            </a:r>
            <a:endParaRPr b="0" sz="10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1207080" y="530280"/>
            <a:ext cx="10339920" cy="47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b="0" sz="2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1207080" y="1024200"/>
            <a:ext cx="10339920" cy="2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5B6B66"/>
                </a:solidFill>
                <a:latin typeface="Calibri"/>
                <a:ea typeface="Calibri"/>
                <a:cs typeface="Calibri"/>
                <a:sym typeface="Calibri"/>
              </a:rPr>
              <a:t>Published sources underpinning the methodological choices made in this study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640080" y="1463040"/>
            <a:ext cx="3564360" cy="3198600"/>
          </a:xfrm>
          <a:prstGeom prst="roundRect">
            <a:avLst>
              <a:gd fmla="val 2286" name="adj"/>
            </a:avLst>
          </a:prstGeom>
          <a:solidFill>
            <a:srgbClr val="EDF2F0"/>
          </a:solidFill>
          <a:ln cap="flat" cmpd="sng" w="126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896040" y="1645920"/>
            <a:ext cx="3061440" cy="30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Representation, data and tools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896040" y="2057400"/>
            <a:ext cx="3061440" cy="2467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Hansch, C. &amp; Fujita, T. (1964) ρ-σ-π analysis. J. Am. Chem. Soc., 86, 1616–1626.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Rogers, D. &amp; Hahn, M. (2010) Extended-connectivity fingerprints. J. Chem. Inf. Model., 50, 742–754.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Mendez, D. et al. (2019) ChEMBL: towards direct deposition of bioassay data. Nucleic Acids Res., 47, D930–D940.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Landrum, G. RDKit: open-source cheminformatics. www.rdkit.org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Pedregosa, F. et al. (2011) Scikit-learn. JMLR, 12, 2825–2830.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4370760" y="1463040"/>
            <a:ext cx="3564360" cy="3198600"/>
          </a:xfrm>
          <a:prstGeom prst="roundRect">
            <a:avLst>
              <a:gd fmla="val 2286" name="adj"/>
            </a:avLst>
          </a:prstGeom>
          <a:solidFill>
            <a:srgbClr val="EDF2F0"/>
          </a:solidFill>
          <a:ln cap="flat" cmpd="sng" w="126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4626720" y="1645920"/>
            <a:ext cx="3061440" cy="30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Learning algorithms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4626720" y="2057400"/>
            <a:ext cx="3061440" cy="2467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Breiman, L. (1996) Bagging predictors. Machine Learning, 24, 123–140.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Breiman, L. (2001) Random forests. Machine Learning, 45, 5–32.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Friedman, J. H. (2001) Greedy function approximation. Ann. Statist., 29, 1189–1232.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Chen, T. &amp; Guestrin, C. (2016) XGBoost: a scalable tree boosting system. KDD '16, 785–794.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Ke, G. et al. (2017) LightGBM. NeurIPS, 30.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Tibshirani, R. (1996) Regression shrinkage and selection via the lasso. J. R. Stat. Soc. B, 58, 267–288.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8192880" y="1463040"/>
            <a:ext cx="3354120" cy="3198600"/>
          </a:xfrm>
          <a:prstGeom prst="roundRect">
            <a:avLst>
              <a:gd fmla="val 2286" name="adj"/>
            </a:avLst>
          </a:prstGeom>
          <a:solidFill>
            <a:srgbClr val="EDF2F0"/>
          </a:solidFill>
          <a:ln cap="flat" cmpd="sng" w="12600">
            <a:solidFill>
              <a:srgbClr val="EDF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8449200" y="1645920"/>
            <a:ext cx="2878560" cy="30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123B37"/>
                </a:solidFill>
                <a:latin typeface="Cambria"/>
                <a:ea typeface="Cambria"/>
                <a:cs typeface="Cambria"/>
                <a:sym typeface="Cambria"/>
              </a:rPr>
              <a:t>Evaluation and interpretation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8449200" y="2057400"/>
            <a:ext cx="2878560" cy="2467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Lundberg, S. M. &amp; Lee, S.-I. (2017) A unified approach to interpreting model predictions. NeurIPS, 30, 4765–4774.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Chicco, D. &amp; Jurman, G. (2020) The advantages of the Matthews correlation coefficient over F1 score and accuracy. BMC Genomics, 21, 6.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17211F"/>
                </a:solidFill>
                <a:latin typeface="Calibri"/>
                <a:ea typeface="Calibri"/>
                <a:cs typeface="Calibri"/>
                <a:sym typeface="Calibri"/>
              </a:rPr>
              <a:t>Bemis, G. W. &amp; Murcko, M. A. (1996) The properties of known drugs. 1. Molecular frameworks. J. Med. Chem., 39, 2887–2893.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640080" y="4892040"/>
            <a:ext cx="10906920" cy="1186920"/>
          </a:xfrm>
          <a:prstGeom prst="roundRect">
            <a:avLst>
              <a:gd fmla="val 6154" name="adj"/>
            </a:avLst>
          </a:prstGeom>
          <a:solidFill>
            <a:srgbClr val="123B37"/>
          </a:solidFill>
          <a:ln cap="flat" cmpd="sng" w="12600">
            <a:solidFill>
              <a:srgbClr val="123B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960120" y="5056560"/>
            <a:ext cx="10513800" cy="30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strike="noStrike">
                <a:solidFill>
                  <a:srgbClr val="D98C2B"/>
                </a:solidFill>
                <a:latin typeface="Cambria"/>
                <a:ea typeface="Cambria"/>
                <a:cs typeface="Cambria"/>
                <a:sym typeface="Cambria"/>
              </a:rPr>
              <a:t>Software</a:t>
            </a:r>
            <a:endParaRPr b="0" sz="15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960120" y="5394960"/>
            <a:ext cx="10513800" cy="63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DCEAE5"/>
                </a:solidFill>
                <a:latin typeface="Calibri"/>
                <a:ea typeface="Calibri"/>
                <a:cs typeface="Calibri"/>
                <a:sym typeface="Calibri"/>
              </a:rPr>
              <a:t>RDKit · scikit-learn · XGBoost · LightGBM · SHAP · pandas · NumPy · Matplotlib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BAB, Syngene and Biocon Academy logos" id="424" name="Google Shape;4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7440" y="274320"/>
            <a:ext cx="2513160" cy="290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2026-08-07T00:31:10Z</dcterms:created>
  <dc:creator>Shivananda Reddy Kasula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Widescreen</vt:lpwstr>
  </property>
  <property fmtid="{D5CDD505-2E9C-101B-9397-08002B2CF9AE}" pid="4" name="Slides">
    <vt:i4>14</vt:i4>
  </property>
</Properties>
</file>